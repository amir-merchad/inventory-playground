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01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6301F"/>
                </a:solidFill>
                <a:latin typeface="Cambria"/>
              </a:rPr>
              <a:t>Profit per farm — July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 2026 ($)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0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7E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Green Valley</c:v>
                  </c:pt>
                  <c:pt idx="1">
                    <c:v>Palm Oasis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4920</c:v>
                </c:pt>
                <c:pt idx="1">
                  <c:v>2240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0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0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6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prototype on screen. One system connecting the daily work on each farm to the numbers the owner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relatable — these are his current pains, not abstract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heart: the production loop. Point at the green bar — stock can be an ingredient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manager view here: add expense, production run with the loss warning, and a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prototype to Admin view. Show dashboard, then Green Valley detail, then click Enter as manager to show the audit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later options as choices, not promises — keeps phase 1 scope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monthly demo promise — it de-risks the project for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5156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3011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031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FarmFlow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farm. Every animal. Every dollar — in one place.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Multi-farm management system · clickable prototype demo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paper, Excel, and guesswork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running the farms looks like without a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F9E7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live in notebooks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3500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vet visits and wages are written down — then lost or never added up.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74520"/>
            <a:ext cx="777240" cy="77724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0766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profit per animal or crop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52360" y="23500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cow earns money? Which crop loses it? Nobody can say.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06240"/>
            <a:ext cx="777240" cy="777240"/>
          </a:xfrm>
          <a:prstGeom prst="ellipse">
            <a:avLst/>
          </a:prstGeom>
          <a:solidFill>
            <a:srgbClr val="F9E7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44083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losses are invisible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681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goes in, cheese comes out — how much disappeared in between?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206240"/>
            <a:ext cx="777240" cy="77724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40832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 finds out weeks late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52360" y="4681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arrive at season end, too late to act.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farm in one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connected — enter data once, every report updates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AF2E3"/>
          </a:solidFill>
          <a:ln w="12700">
            <a:solidFill>
              <a:srgbClr val="D8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436" y="2496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26243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401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&amp; crops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32304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80360" y="2377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AF2E3"/>
          </a:solidFill>
          <a:ln w="12700">
            <a:solidFill>
              <a:srgbClr val="D8DE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9876" y="2496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62432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80360" y="3401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· eggs · wheat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09744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257800" y="2377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BF1DE"/>
          </a:solidFill>
          <a:ln w="12700">
            <a:solidFill>
              <a:srgbClr val="D8DE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57316" y="2496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332" y="262432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57800" y="3401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→ losses tracked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87184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635240" y="2377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1E9DD"/>
          </a:solidFill>
          <a:ln w="12700">
            <a:solidFill>
              <a:srgbClr val="D8DEC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334756" y="2496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2" y="26243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35240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635240" y="3401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&amp; cost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564624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10012680" y="2377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AF2E3"/>
          </a:solidFill>
          <a:ln w="12700">
            <a:solidFill>
              <a:srgbClr val="D8DEC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712196" y="2496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0212" y="2624328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12680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0012680" y="3401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credit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657600" y="4160520"/>
            <a:ext cx="4572000" cy="566928"/>
          </a:xfrm>
          <a:prstGeom prst="roundRect">
            <a:avLst>
              <a:gd name="adj" fmla="val 48387"/>
            </a:avLst>
          </a:prstGeom>
          <a:solidFill>
            <a:srgbClr val="2C5F2D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4261104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343400" y="4160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feeds back into production — cheese from your own milk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502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77240" y="5349240"/>
            <a:ext cx="731520" cy="731520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" y="5539435"/>
            <a:ext cx="351130" cy="35113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691640" y="5212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attach to assets</a:t>
            </a:r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feed · vet · seeds · wages · general costs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217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92240" y="5349240"/>
            <a:ext cx="731520" cy="73152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435" y="5539435"/>
            <a:ext cx="351130" cy="35113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406640" y="5212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go into stock</a:t>
            </a:r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supplies + ready goods bought for resale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manager's day: three taps on a phone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mobile app — no training needed, data entered where the work happens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651760" cy="4800600"/>
          </a:xfrm>
          <a:prstGeom prst="roundRect">
            <a:avLst>
              <a:gd name="adj" fmla="val 9655"/>
            </a:avLst>
          </a:prstGeom>
          <a:solidFill>
            <a:srgbClr val="1F442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10512"/>
            <a:ext cx="2377440" cy="4480560"/>
          </a:xfrm>
          <a:prstGeom prst="roundRect">
            <a:avLst>
              <a:gd name="adj" fmla="val 6923"/>
            </a:avLst>
          </a:prstGeom>
          <a:solidFill>
            <a:srgbClr val="F7F4E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10512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Valley Farm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D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15 Jul · 3 expenses · 2 sales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288036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80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88720" y="3593592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A97E4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935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88720" y="4306824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D99A3D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3068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88720" y="5074920"/>
            <a:ext cx="1920240" cy="960120"/>
          </a:xfrm>
          <a:prstGeom prst="roundRect">
            <a:avLst>
              <a:gd name="adj" fmla="val 8571"/>
            </a:avLst>
          </a:prstGeom>
          <a:solidFill>
            <a:srgbClr val="FBF1DE"/>
          </a:solidFill>
          <a:ln/>
        </p:spPr>
      </p:sp>
      <p:sp>
        <p:nvSpPr>
          <p:cNvPr id="16" name="Text 14"/>
          <p:cNvSpPr/>
          <p:nvPr/>
        </p:nvSpPr>
        <p:spPr>
          <a:xfrm>
            <a:off x="1298448" y="513892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Vaccine due in 3 days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Halima · GV-C-001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691640"/>
            <a:ext cx="731520" cy="73152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4995" y="1881835"/>
            <a:ext cx="351130" cy="35113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492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expense in 30 seconds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207568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category, amount, snap the receipt — linked to an animal, a crop, or the whole farm.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0" y="2898648"/>
            <a:ext cx="731520" cy="73152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95" y="3088843"/>
            <a:ext cx="351130" cy="3511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74920" y="28986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production with a recipe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074920" y="328269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come from stock, output goes to stock. Loss is calculated automatically — flagged if above normal.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114800" y="4105656"/>
            <a:ext cx="731520" cy="73152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95" y="4295851"/>
            <a:ext cx="351130" cy="35113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74920" y="41056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with a simple invoice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074920" y="448970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partial or credit — customer balances tracked for you.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114800" y="5312664"/>
            <a:ext cx="731520" cy="731520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95" y="5502859"/>
            <a:ext cx="351130" cy="35113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74920" y="53126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reminded, don't remember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5074920" y="569671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due dates and low-stock alerts arrive on the phone.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everything — live, from anywhere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across all farms, updated the moment data is entered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7F9F5"/>
          </a:solidFill>
          <a:ln w="12700">
            <a:solidFill>
              <a:srgbClr val="E1E6D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828800"/>
          <a:ext cx="46634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drill down: profit per animal group, per flock, per crop plot.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35040" y="1645920"/>
            <a:ext cx="713232" cy="713232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80" y="1831360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breakdown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949440" y="2011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42% · wages 18% · vet 16% — see where money goes, per farm.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35040" y="2834640"/>
            <a:ext cx="713232" cy="713232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80" y="3020080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find you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94944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stock, abnormal production loss, vaccine due, overdue customer credit.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035040" y="4023360"/>
            <a:ext cx="713232" cy="713232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80" y="4208800"/>
            <a:ext cx="342351" cy="3423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efficiency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949440" y="4389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 losses per recipe — catch waste early.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035040" y="5212080"/>
            <a:ext cx="713232" cy="713232"/>
          </a:xfrm>
          <a:prstGeom prst="ellipse">
            <a:avLst/>
          </a:prstGeom>
          <a:solidFill>
            <a:srgbClr val="EAF2E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80" y="5397520"/>
            <a:ext cx="342351" cy="3423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4944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Read-only, with an audited override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949440" y="5577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watch by default. To edit, you “enter as manager” — and every action is logged.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simple. Grows with the farm.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from day one — and comfort features we can add when you're ready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AF2E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21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40280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&amp; health reminders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953512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AF2E3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27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535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loss alerts on every production run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3941064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AF2E3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0965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15384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94106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warnings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02920" y="4928616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AF2E3"/>
          </a:solidFill>
          <a:ln/>
        </p:spPr>
      </p:sp>
      <p:sp>
        <p:nvSpPr>
          <p:cNvPr id="18" name="Shape 13"/>
          <p:cNvSpPr/>
          <p:nvPr/>
        </p:nvSpPr>
        <p:spPr>
          <a:xfrm>
            <a:off x="685800" y="50840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202936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92861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balances &amp; credit sales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OPTIONS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63640" y="19659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1E9DD"/>
          </a:solidFill>
          <a:ln/>
        </p:spPr>
      </p:sp>
      <p:sp>
        <p:nvSpPr>
          <p:cNvPr id="23" name="Shape 17"/>
          <p:cNvSpPr/>
          <p:nvPr/>
        </p:nvSpPr>
        <p:spPr>
          <a:xfrm>
            <a:off x="6446520" y="2121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240280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19659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tags on animals  </a:t>
            </a:r>
            <a:pPr indent="0" marL="0">
              <a:buNone/>
            </a:pPr>
            <a:r>
              <a:rPr lang="en-US" sz="12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cow, see her record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263640" y="2953512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1E9DD"/>
          </a:solidFill>
          <a:ln/>
        </p:spPr>
      </p:sp>
      <p:sp>
        <p:nvSpPr>
          <p:cNvPr id="27" name="Shape 20"/>
          <p:cNvSpPr/>
          <p:nvPr/>
        </p:nvSpPr>
        <p:spPr>
          <a:xfrm>
            <a:off x="644652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227832"/>
            <a:ext cx="265176" cy="2651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295351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  </a:t>
            </a:r>
            <a:pPr indent="0" marL="0">
              <a:buNone/>
            </a:pPr>
            <a:r>
              <a:rPr lang="en-US" sz="12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product shelf life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63640" y="3941064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1E9DD"/>
          </a:solidFill>
          <a:ln/>
        </p:spPr>
      </p:sp>
      <p:sp>
        <p:nvSpPr>
          <p:cNvPr id="31" name="Shape 23"/>
          <p:cNvSpPr/>
          <p:nvPr/>
        </p:nvSpPr>
        <p:spPr>
          <a:xfrm>
            <a:off x="6446520" y="40965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4215384"/>
            <a:ext cx="265176" cy="26517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394106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&amp; season planning  </a:t>
            </a:r>
            <a:pPr indent="0" marL="0">
              <a:buNone/>
            </a:pPr>
            <a:r>
              <a:rPr lang="en-US" sz="12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crops by plot and season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263640" y="4928616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1E9DD"/>
          </a:solidFill>
          <a:ln/>
        </p:spPr>
      </p:sp>
      <p:sp>
        <p:nvSpPr>
          <p:cNvPr id="35" name="Shape 26"/>
          <p:cNvSpPr/>
          <p:nvPr/>
        </p:nvSpPr>
        <p:spPr>
          <a:xfrm>
            <a:off x="6446520" y="50840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5202936"/>
            <a:ext cx="265176" cy="26517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32320" y="492861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analytics  </a:t>
            </a:r>
            <a:pPr indent="0" marL="0">
              <a:buNone/>
            </a:pPr>
            <a:r>
              <a:rPr lang="en-US" sz="1200" dirty="0">
                <a:solidFill>
                  <a:srgbClr val="6E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forecasts, comparisons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Delivery: three phases, no surprises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every month — you watch it grow, on your own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2A4A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658368" cy="6583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months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Farms, animals &amp; crops, expenses, production runs, stock, purchases, sales &amp; invoices, owner dashboard with the key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6552" y="192024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2A4A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0872" y="2194560"/>
            <a:ext cx="658368" cy="658368"/>
          </a:xfrm>
          <a:prstGeom prst="ellipse">
            <a:avLst/>
          </a:prstGeom>
          <a:solidFill>
            <a:srgbClr val="D99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13832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13832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90872" y="31546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tags, expiry tracking, richer reminders, extra reports — chosen together after you've used the core.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30184" y="192024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2A4A33"/>
          </a:solidFill>
          <a:ln/>
        </p:spPr>
      </p:sp>
      <p:sp>
        <p:nvSpPr>
          <p:cNvPr id="18" name="Shape 16"/>
          <p:cNvSpPr/>
          <p:nvPr/>
        </p:nvSpPr>
        <p:spPr>
          <a:xfrm>
            <a:off x="8604504" y="2194560"/>
            <a:ext cx="658368" cy="658368"/>
          </a:xfrm>
          <a:prstGeom prst="ellipse">
            <a:avLst/>
          </a:prstGeom>
          <a:solidFill>
            <a:srgbClr val="A97E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04504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27464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27464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04504" y="31546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&amp; season planning, analytics, and polish driven by real daily use on your farms.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pick a start date — the prototype you just saw becomes phase 1.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2026-07-15T20:03:54Z</dcterms:created>
  <dcterms:modified xsi:type="dcterms:W3CDTF">2026-07-15T20:03:54Z</dcterms:modified>
</cp:coreProperties>
</file>